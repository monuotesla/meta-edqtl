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403" r:id="rId2"/>
    <p:sldId id="3419" r:id="rId3"/>
    <p:sldId id="3358" r:id="rId4"/>
    <p:sldId id="3362" r:id="rId5"/>
    <p:sldId id="3361" r:id="rId6"/>
    <p:sldId id="3420" r:id="rId7"/>
    <p:sldId id="3421" r:id="rId8"/>
    <p:sldId id="342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48"/>
    <p:restoredTop sz="94672"/>
  </p:normalViewPr>
  <p:slideViewPr>
    <p:cSldViewPr snapToGrid="0">
      <p:cViewPr varScale="1">
        <p:scale>
          <a:sx n="134" d="100"/>
          <a:sy n="134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7ED0D-BDB3-1B44-8D19-1927C0B5B9A3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95E82-1DA3-9643-98A9-5E606F3316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635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lacards.org/card/cranial_nerve_disease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我们分别在东亚人群（中国脑库）和欧洲人群（</a:t>
            </a:r>
            <a:r>
              <a:rPr lang="en-US" altLang="zh-CN" dirty="0" err="1"/>
              <a:t>BrainGVEX</a:t>
            </a:r>
            <a:r>
              <a:rPr lang="zh-CN" altLang="en-US" dirty="0"/>
              <a:t>）中进行了</a:t>
            </a:r>
            <a:r>
              <a:rPr lang="en-US" altLang="zh-CN" dirty="0" err="1"/>
              <a:t>coloc</a:t>
            </a:r>
            <a:r>
              <a:rPr lang="zh-CN" altLang="en-US" dirty="0"/>
              <a:t>共定位分析，表格中展示了</a:t>
            </a:r>
            <a:r>
              <a:rPr lang="en-US" altLang="zh-CN" b="1" dirty="0"/>
              <a:t>PP.H4.abf</a:t>
            </a:r>
            <a:r>
              <a:rPr lang="zh-CN" altLang="en-US" b="1" dirty="0"/>
              <a:t>（即两种信号共因）大于</a:t>
            </a:r>
            <a:r>
              <a:rPr lang="en-US" altLang="zh-CN" b="1" dirty="0"/>
              <a:t>0.75</a:t>
            </a:r>
            <a:r>
              <a:rPr lang="zh-CN" altLang="en-US" b="1" dirty="0"/>
              <a:t>的位点</a:t>
            </a:r>
            <a:r>
              <a:rPr lang="zh-CN" altLang="en-US" dirty="0"/>
              <a:t>，并列出了对应的编辑位点、目标基因和注释信息。从结果来看，两个人群中</a:t>
            </a:r>
            <a:r>
              <a:rPr lang="zh-CN" altLang="en-US" b="1" dirty="0"/>
              <a:t>共定位的信号共享在两个基因：</a:t>
            </a:r>
            <a:r>
              <a:rPr lang="en-US" altLang="zh-CN" b="1" dirty="0"/>
              <a:t>DGKI</a:t>
            </a:r>
            <a:r>
              <a:rPr lang="zh-CN" altLang="en-US" b="1" dirty="0"/>
              <a:t>和</a:t>
            </a:r>
            <a:r>
              <a:rPr lang="en-US" altLang="zh-CN" b="1" dirty="0"/>
              <a:t>UBE2D3</a:t>
            </a:r>
            <a:r>
              <a:rPr lang="zh-CN" altLang="en-US" sz="1200" b="1" dirty="0">
                <a:latin typeface="Cambria" panose="02040503050406030204" pitchFamily="18" charset="0"/>
                <a:ea typeface="宋体" panose="02010600030101010101" pitchFamily="2" charset="-122"/>
              </a:rPr>
              <a:t>。</a:t>
            </a:r>
            <a:r>
              <a:rPr lang="zh-CN" altLang="en-US" dirty="0">
                <a:latin typeface="Cambria" panose="02040503050406030204" pitchFamily="18" charset="0"/>
                <a:ea typeface="宋体" panose="02010600030101010101" pitchFamily="2" charset="-122"/>
              </a:rPr>
              <a:t>在位点水平上，二者的重叠结果为</a:t>
            </a:r>
            <a:r>
              <a:rPr lang="en-US" altLang="zh-CN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Chr7_137067935</a:t>
            </a:r>
            <a:r>
              <a:rPr lang="zh-CN" altLang="en-US" dirty="0">
                <a:latin typeface="Cambria" panose="02040503050406030204" pitchFamily="18" charset="0"/>
                <a:ea typeface="宋体" panose="02010600030101010101" pitchFamily="2" charset="-122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Chr4_103731698</a:t>
            </a:r>
            <a:r>
              <a:rPr lang="zh-CN" altLang="en-US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。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值得一提的是，</a:t>
            </a:r>
            <a:r>
              <a:rPr lang="en-US" altLang="zh-CN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935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该位点</a:t>
            </a:r>
            <a:r>
              <a:rPr lang="zh-CN" altLang="en-US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DGKI</a:t>
            </a:r>
            <a:r>
              <a:rPr lang="zh-CN" altLang="en-US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这个基因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在另一项欧洲人群</a:t>
            </a:r>
            <a:r>
              <a:rPr lang="en-US" altLang="zh-CN" sz="1200" dirty="0" err="1">
                <a:latin typeface="Cambria" panose="02040503050406030204" pitchFamily="18" charset="0"/>
                <a:ea typeface="宋体" panose="02010600030101010101" pitchFamily="2" charset="-122"/>
              </a:rPr>
              <a:t>edQTL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GWAS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联合研究中也被认为具有最高的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pph4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值。这也证实了我们结果的可靠性。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Then we do co-localization{</a:t>
            </a:r>
            <a:r>
              <a:rPr lang="zh-CN" altLang="en-US" dirty="0"/>
              <a:t>楼可来</a:t>
            </a:r>
            <a:r>
              <a:rPr lang="en-US" altLang="zh-CN" dirty="0" err="1"/>
              <a:t>zition</a:t>
            </a:r>
            <a:r>
              <a:rPr lang="en-US" altLang="zh-CN" dirty="0"/>
              <a:t>} with the Threshold{</a:t>
            </a:r>
            <a:r>
              <a:rPr lang="zh-CN" altLang="en-US" dirty="0"/>
              <a:t>死瑞</a:t>
            </a:r>
            <a:r>
              <a:rPr lang="en-US" altLang="zh-CN" dirty="0"/>
              <a:t>should} pph4 0.75 {point  seven five}</a:t>
            </a:r>
          </a:p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At the gene level, the overlapping </a:t>
            </a:r>
            <a:r>
              <a:rPr lang="zh-CN" alt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结果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 of </a:t>
            </a:r>
            <a:r>
              <a:rPr lang="en-US" altLang="zh-CN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BrainGVEX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and East Asian populations are UBE2D3 and DGKI.</a:t>
            </a:r>
          </a:p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At the site level, the overlapping </a:t>
            </a:r>
            <a:r>
              <a:rPr lang="zh-CN" alt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结果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 of </a:t>
            </a:r>
            <a:r>
              <a:rPr lang="en-US" altLang="zh-CN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BrainGVEX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and East Asian populations are Chr7_137067935{thirty-five}.</a:t>
            </a:r>
            <a:r>
              <a:rPr lang="en-US" altLang="zh-CN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And this site has the highest pph4 in both population.</a:t>
            </a:r>
          </a:p>
          <a:p>
            <a:endParaRPr lang="en-US" altLang="zh-CN" u="none" strike="noStrike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altLang="zh-CN" u="none" strike="noStrike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7CAA21-43A6-4E07-89E7-7FF1CE1A82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最后使用</a:t>
            </a:r>
            <a:r>
              <a:rPr lang="en-US" altLang="zh-CN" dirty="0" err="1"/>
              <a:t>coloc</a:t>
            </a:r>
            <a:r>
              <a:rPr lang="zh-CN" altLang="en-US" dirty="0"/>
              <a:t>模型评估了</a:t>
            </a:r>
            <a:r>
              <a:rPr lang="en-US" altLang="zh-CN" dirty="0" err="1"/>
              <a:t>redQTL</a:t>
            </a:r>
            <a:r>
              <a:rPr lang="zh-CN" altLang="en-US" dirty="0"/>
              <a:t>与精神分裂症</a:t>
            </a:r>
            <a:r>
              <a:rPr lang="en-US" altLang="zh-CN" dirty="0"/>
              <a:t>GWAS</a:t>
            </a:r>
            <a:r>
              <a:rPr lang="zh-CN" altLang="en-US" dirty="0"/>
              <a:t>信号的共定位情况在东亚人群中，我们发现了</a:t>
            </a:r>
            <a:r>
              <a:rPr lang="en-US" altLang="zh-CN" dirty="0"/>
              <a:t>5</a:t>
            </a:r>
            <a:r>
              <a:rPr lang="zh-CN" altLang="en-US" dirty="0"/>
              <a:t>个共定位的</a:t>
            </a:r>
            <a:r>
              <a:rPr lang="en-US" altLang="zh-CN" dirty="0" err="1"/>
              <a:t>redQTL</a:t>
            </a:r>
            <a:r>
              <a:rPr lang="zh-CN" altLang="en-US" dirty="0"/>
              <a:t>信号；这些共定位结果</a:t>
            </a:r>
            <a:r>
              <a:rPr lang="zh-CN" altLang="en-US" b="1" dirty="0"/>
              <a:t>全部也存在于</a:t>
            </a:r>
            <a:r>
              <a:rPr lang="en-US" altLang="zh-CN" b="1" dirty="0" err="1"/>
              <a:t>edQTL</a:t>
            </a:r>
            <a:r>
              <a:rPr lang="zh-CN" altLang="en-US" b="1" dirty="0"/>
              <a:t>的共定位结果中</a:t>
            </a:r>
            <a:r>
              <a:rPr lang="zh-CN" altLang="en-US" dirty="0"/>
              <a:t>，说明</a:t>
            </a:r>
            <a:r>
              <a:rPr lang="en-US" altLang="zh-CN" dirty="0" err="1"/>
              <a:t>edQTL</a:t>
            </a:r>
            <a:r>
              <a:rPr lang="zh-CN" altLang="en-US" dirty="0"/>
              <a:t>层面已捕捉到核心信号。而在欧洲人群中，共定位信号数量较少，仅发现</a:t>
            </a:r>
            <a:r>
              <a:rPr lang="en-US" altLang="zh-CN" dirty="0"/>
              <a:t>2</a:t>
            </a:r>
            <a:r>
              <a:rPr lang="zh-CN" altLang="en-US" dirty="0"/>
              <a:t>个显著信号；其中一个信号</a:t>
            </a:r>
            <a:r>
              <a:rPr lang="zh-CN" altLang="en-US" b="1" dirty="0"/>
              <a:t>仅在</a:t>
            </a:r>
            <a:r>
              <a:rPr lang="en-US" altLang="zh-CN" b="1" dirty="0" err="1"/>
              <a:t>redQTL</a:t>
            </a:r>
            <a:r>
              <a:rPr lang="zh-CN" altLang="en-US" b="1" dirty="0"/>
              <a:t>层面显著</a:t>
            </a:r>
            <a:r>
              <a:rPr lang="zh-CN" altLang="en-US" dirty="0"/>
              <a:t>，在</a:t>
            </a:r>
            <a:r>
              <a:rPr lang="en-US" altLang="zh-CN" dirty="0" err="1"/>
              <a:t>edQTL</a:t>
            </a:r>
            <a:r>
              <a:rPr lang="zh-CN" altLang="en-US" dirty="0"/>
              <a:t>层面并未被检测到；可能表明</a:t>
            </a:r>
            <a:r>
              <a:rPr lang="zh-CN" altLang="en-US" b="1" dirty="0"/>
              <a:t>区域编辑整合分析具有独特补充价值</a:t>
            </a:r>
            <a:r>
              <a:rPr lang="zh-CN" altLang="en-US" dirty="0"/>
              <a:t>，可以发现</a:t>
            </a:r>
            <a:r>
              <a:rPr lang="en-US" altLang="zh-CN" dirty="0" err="1"/>
              <a:t>edQTL</a:t>
            </a:r>
            <a:r>
              <a:rPr lang="zh-CN" altLang="en-US" dirty="0"/>
              <a:t>无法识别的新信号。</a:t>
            </a:r>
          </a:p>
          <a:p>
            <a:endParaRPr lang="en-US" altLang="zh-CN" dirty="0"/>
          </a:p>
          <a:p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zh-CN" altLang="en-US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提示区域模型可拓展</a:t>
            </a:r>
            <a:r>
              <a:rPr lang="en-US" altLang="zh-CN" sz="12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edQTL</a:t>
            </a:r>
            <a:r>
              <a:rPr lang="zh-CN" altLang="en-US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未能检测到的</a:t>
            </a: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GWAS</a:t>
            </a:r>
            <a:r>
              <a:rPr lang="zh-CN" altLang="en-US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关联。</a:t>
            </a: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Finally we do Co-localization of region-</a:t>
            </a:r>
            <a:r>
              <a:rPr lang="en-US" altLang="zh-CN" sz="12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edQTL</a:t>
            </a: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schizophrenia GWAS</a:t>
            </a:r>
          </a:p>
          <a:p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zh-CN" sz="1200" b="0" i="0" dirty="0">
                <a:solidFill>
                  <a:srgbClr val="2A2F4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 East Asian population, the colocalization </a:t>
            </a:r>
            <a:r>
              <a:rPr lang="zh-CN" altLang="en-US" sz="1200" b="0" i="0" dirty="0">
                <a:solidFill>
                  <a:srgbClr val="2A2F4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结果</a:t>
            </a:r>
            <a:r>
              <a:rPr lang="en-US" altLang="zh-CN" sz="1200" b="0" i="0" dirty="0">
                <a:solidFill>
                  <a:srgbClr val="2A2F4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 were </a:t>
            </a:r>
            <a:r>
              <a:rPr lang="en-US" altLang="zh-CN" sz="1200" b="0" i="0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fully</a:t>
            </a:r>
            <a:r>
              <a:rPr lang="en-US" altLang="zh-CN" sz="1200" b="0" i="0" dirty="0">
                <a:solidFill>
                  <a:srgbClr val="2A2F4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captured within the </a:t>
            </a:r>
            <a:r>
              <a:rPr lang="en-US" altLang="zh-CN" sz="1200" b="0" i="0" dirty="0" err="1">
                <a:solidFill>
                  <a:srgbClr val="2A2F4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edQTL</a:t>
            </a:r>
            <a:r>
              <a:rPr lang="en-US" altLang="zh-CN" sz="1200" b="0" i="0" dirty="0">
                <a:solidFill>
                  <a:srgbClr val="2A2F4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colocalization </a:t>
            </a:r>
            <a:r>
              <a:rPr lang="zh-CN" altLang="en-US" sz="1200" b="0" i="0" dirty="0">
                <a:solidFill>
                  <a:srgbClr val="2A2F4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结果</a:t>
            </a:r>
            <a:r>
              <a:rPr lang="en-US" altLang="zh-CN" sz="1200" b="0" i="0" dirty="0">
                <a:solidFill>
                  <a:srgbClr val="2A2F4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s.</a:t>
            </a:r>
          </a:p>
          <a:p>
            <a:r>
              <a:rPr lang="en-US" altLang="zh-CN" sz="1200" b="0" i="0" dirty="0">
                <a:solidFill>
                  <a:srgbClr val="2A2F4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 European population ,</a:t>
            </a:r>
            <a:r>
              <a:rPr lang="en-US" altLang="zh-CN" sz="1200" b="0" i="0" u="none" strike="noStrike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1200" b="0" i="0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altLang="zh-CN" sz="1200" b="0" i="0" u="none" strike="noStrike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chr7_38764259_ld</a:t>
            </a:r>
            <a:r>
              <a:rPr lang="zh-CN" altLang="en-US" sz="1200" b="0" i="0" u="none" strike="noStrike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1200" b="0" i="0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is new </a:t>
            </a:r>
            <a:r>
              <a:rPr lang="zh-CN" altLang="en-US" sz="1200" b="0" i="0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结果</a:t>
            </a:r>
            <a:r>
              <a:rPr lang="en-US" altLang="zh-CN" sz="1200" b="0" i="0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09C6-F157-48AF-A6FA-217580A4EC01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B99367-2059-4196-A50B-74BE152847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Then we focused on the </a:t>
            </a:r>
            <a:r>
              <a:rPr lang="en-US" altLang="zh-CN" dirty="0" err="1"/>
              <a:t>edSites</a:t>
            </a:r>
            <a:r>
              <a:rPr lang="en-US" altLang="zh-CN" dirty="0"/>
              <a:t> in the exon regions.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 We found that most of </a:t>
            </a:r>
            <a:r>
              <a:rPr lang="en-US" altLang="zh-C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edsites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 in exon region are nonsynonymous.(</a:t>
            </a:r>
            <a:r>
              <a:rPr lang="zh-CN" alt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囊</a:t>
            </a:r>
            <a:r>
              <a:rPr lang="en-US" altLang="zh-C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si</a:t>
            </a:r>
            <a:r>
              <a:rPr lang="zh-CN" alt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囊呢门死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nonsynonymous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非同义突变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synonymous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Then we focused on the </a:t>
            </a:r>
            <a:r>
              <a:rPr lang="en-US" altLang="zh-CN" dirty="0" err="1"/>
              <a:t>edSites</a:t>
            </a:r>
            <a:r>
              <a:rPr lang="en-US" altLang="zh-CN" dirty="0"/>
              <a:t> in the exon regions.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 We found that most of </a:t>
            </a:r>
            <a:r>
              <a:rPr lang="en-US" altLang="zh-C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edsites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 in exon region are nonsynonymous.(</a:t>
            </a:r>
            <a:r>
              <a:rPr lang="zh-CN" alt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囊</a:t>
            </a:r>
            <a:r>
              <a:rPr lang="en-US" altLang="zh-C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si</a:t>
            </a:r>
            <a:r>
              <a:rPr lang="zh-CN" alt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囊呢门死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nonsynonymous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非同义突变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synonymous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Then we focused on the </a:t>
            </a:r>
            <a:r>
              <a:rPr lang="en-US" altLang="zh-CN" dirty="0" err="1"/>
              <a:t>edSites</a:t>
            </a:r>
            <a:r>
              <a:rPr lang="en-US" altLang="zh-CN" dirty="0"/>
              <a:t> in the exon regions.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 We found that most of </a:t>
            </a:r>
            <a:r>
              <a:rPr lang="en-US" altLang="zh-C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edsites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 in exon region are nonsynonymous.(</a:t>
            </a:r>
            <a:r>
              <a:rPr lang="zh-CN" alt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囊</a:t>
            </a:r>
            <a:r>
              <a:rPr lang="en-US" altLang="zh-C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si</a:t>
            </a:r>
            <a:r>
              <a:rPr lang="zh-CN" alt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囊呢门死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nonsynonymous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非同义突变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synonymous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非同义突变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Then we focused on the </a:t>
            </a:r>
            <a:r>
              <a:rPr lang="en-US" altLang="zh-CN" dirty="0" err="1"/>
              <a:t>edSites</a:t>
            </a:r>
            <a:r>
              <a:rPr lang="en-US" altLang="zh-CN" dirty="0"/>
              <a:t> in the exon regions.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 We found that most of </a:t>
            </a:r>
            <a:r>
              <a:rPr lang="en-US" altLang="zh-C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edsites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 in exon region are nonsynonymous.(</a:t>
            </a:r>
            <a:r>
              <a:rPr lang="zh-CN" alt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囊</a:t>
            </a:r>
            <a:r>
              <a:rPr lang="en-US" altLang="zh-C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si</a:t>
            </a:r>
            <a:r>
              <a:rPr lang="zh-CN" alt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囊呢门死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nonsynonymous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非同义突变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synonymous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many of genes are associated with schizophrenia and autism.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Then we focused on the </a:t>
            </a:r>
            <a:r>
              <a:rPr lang="en-US" altLang="zh-CN" dirty="0" err="1"/>
              <a:t>edSites</a:t>
            </a:r>
            <a:r>
              <a:rPr lang="en-US" altLang="zh-CN" dirty="0"/>
              <a:t> in the exon regions.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 We found that most of </a:t>
            </a:r>
            <a:r>
              <a:rPr lang="en-US" altLang="zh-C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edsites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 in exon region are nonsynonymous.(</a:t>
            </a:r>
            <a:r>
              <a:rPr lang="zh-CN" alt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囊</a:t>
            </a:r>
            <a:r>
              <a:rPr lang="en-US" altLang="zh-C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si</a:t>
            </a:r>
            <a:r>
              <a:rPr lang="zh-CN" alt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囊呢门死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u="none" strike="noStrike" dirty="0">
                <a:solidFill>
                  <a:srgbClr val="0077CC"/>
                </a:solidFill>
                <a:effectLst/>
                <a:latin typeface="-apple-system"/>
                <a:hlinkClick r:id="rId3" tooltip="View Gene-MalaCards disease association information (association score = 3.34)"/>
              </a:rPr>
              <a:t>Cranial Nerve Disease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nonsynonymous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非同义突变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synonymous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同义突变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B1F29-1F65-F5FF-BFD3-529E90089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A31A7A-5B20-293C-83D2-753A49B03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53D11E-D343-3AAC-8165-D0F56045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64F49-203C-1C95-8C7C-7151D03E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7142B2-BC51-CC20-E0C3-BA923B2A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430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4C1C4-8E56-4496-9659-09A1E01D7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C85B1-102D-424A-67C9-AD9B75FFB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42556C-9686-8077-841B-AEEE68DF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23D922-6947-9C37-5B63-714E1169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E7B2E4-E16F-B84B-E6E2-1D4BE17A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107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4AC17-EC01-EC54-37BD-D0DF44064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925530-F3FE-43D1-7F3A-EFFBB4B1D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BD9A97-AF88-42F4-4D27-C84545E3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6BA1BB-44B9-18F6-2A0E-34399B00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CBB1FC-93EC-F14C-1A87-3B17A2C3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83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5107C1-128D-15AF-2F6E-99A017E3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1C00EA-964E-ED44-C629-5D9D02F3C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A47C64-8555-4F20-A988-F8AFB270E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8CF41E-A499-DBAB-7294-938FE753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962B57-FB21-FE63-FC87-7D158E29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050996-EA33-6F9A-E834-F2F5C1A2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4294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B5B0E-15A5-89BF-1BB9-35E05D24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718B3-FCA7-43CA-997E-CA2B39DF9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0360DD-3660-2AAA-F9FC-B2DE3FB0F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33492C-5CFB-E681-2D39-C98125510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78D1B5-89B6-5CDA-1EFC-D7FB2B083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37A76A-060B-938C-DEDB-A2251669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B5844B-22D6-3FB2-CF68-29B96FAC7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2542B3-248B-58CD-F719-8FDBCE95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9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F9DC1-F081-687C-F51F-23320E2B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99C38F-8A8B-CF75-37FA-3B6AA3BC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E78537-1BA8-F1E0-6889-387E798B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D274A6-3BB7-2025-C53B-98CBAD96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300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77EDAE-F5EB-CCCD-D9BC-A77E5753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BD5EF6-B48E-7E80-FA4E-55937F23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50F63D-D600-BE5F-AA4B-7664DFD0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8900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A7AA2-C769-EFBD-CA05-3F31315C3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352511-377B-7110-83B2-65744FE0E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285A11-62D4-EC97-FA61-858AE1DA8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C75A01-E322-F205-6297-95216959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6B9AF2-313C-FD69-2FFD-585070828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465B6C-D0D8-DFA3-38B2-C95F8AD5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5058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982E4-95CF-7BFC-E4C1-9A0CFE3B2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0EC78F-6471-9E10-DD0C-425497F9F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4BA4FC-7091-8FA1-2CF0-E4C14DD17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4D9B84-4EF0-6C17-112D-A41A84BB6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19369D-1C06-B8A7-69D9-6DE9AC1B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568381-56C0-2DE1-DC47-BB40435B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830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B18CF-9FB1-2FB0-2B5E-57C0629E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7363A0-0A54-4EF8-565A-E3A47BE8E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C6FF90-06B8-D929-99C5-99D94254C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75C942-54DA-3E1B-DD15-B7A0918D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1FDD99-0E8A-A797-AC53-F1A9432C1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878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656C75-C9B8-583A-657C-9CA85C609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EF27E9-6FED-D3EB-1513-2CC371165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B3EE03-941F-FDE8-77A6-6E482476B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DD21FD-5912-5FA5-0CCF-9DB17D21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2AD122-275E-BFC2-1CD6-655D366E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6045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E8F97FB-0993-E2A9-5A26-CFD677FA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F2A60F-FB56-23E3-3AF1-F210F41A2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69BB77-34D1-D6E9-651B-3E1F281016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8B406-EE8B-8A44-AE00-CD7A5F85C281}" type="datetimeFigureOut">
              <a:rPr kumimoji="1" lang="zh-CN" altLang="en-US" smtClean="0"/>
              <a:t>2025/10/2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85013D-6F0F-FF27-A55E-73E5B3B25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2C2EFD-50AD-39DD-8500-2736CCC8F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C3A65-B77C-E340-982B-7D8B9F42AC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110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594363" y="755968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54" name="组合 53"/>
          <p:cNvGrpSpPr/>
          <p:nvPr/>
        </p:nvGrpSpPr>
        <p:grpSpPr>
          <a:xfrm>
            <a:off x="203760" y="159731"/>
            <a:ext cx="725344" cy="619479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1200" i="1" dirty="0">
                <a:solidFill>
                  <a:prstClr val="white"/>
                </a:solidFill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en-US" altLang="zh-CN" sz="1600" i="1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03</a:t>
              </a:r>
              <a:endParaRPr lang="zh-CN" altLang="en-US" sz="1600" i="1" dirty="0">
                <a:solidFill>
                  <a:prstClr val="white"/>
                </a:solidFill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1200" i="1" dirty="0">
                <a:solidFill>
                  <a:prstClr val="white"/>
                </a:solidFill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1" y="6583653"/>
            <a:ext cx="19319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自强不息 厚德载物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zh-CN" altLang="en-US" kern="0">
              <a:solidFill>
                <a:prstClr val="white"/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2" y="6583653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知行合一、经世致用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173059" y="6583653"/>
            <a:ext cx="2449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Central </a:t>
            </a:r>
            <a:r>
              <a:rPr lang="en-US" altLang="zh-CN" sz="1000" spc="30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South University</a:t>
            </a:r>
            <a:endParaRPr lang="zh-CN" altLang="en-US" sz="1000" spc="300" dirty="0">
              <a:solidFill>
                <a:prstClr val="white"/>
              </a:solidFill>
              <a:latin typeface="Cambria" panose="02040503050406030204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标题占位符 1"/>
          <p:cNvSpPr txBox="1"/>
          <p:nvPr/>
        </p:nvSpPr>
        <p:spPr>
          <a:xfrm>
            <a:off x="1199515" y="316"/>
            <a:ext cx="9714291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>
              <a:defRPr/>
            </a:pPr>
            <a:r>
              <a:rPr lang="zh-CN" altLang="en-US" sz="2600" b="1" spc="1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结果</a:t>
            </a:r>
            <a:r>
              <a:rPr lang="en-US" altLang="zh-CN" sz="2600" b="1" spc="1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3.3</a:t>
            </a:r>
            <a:r>
              <a:rPr lang="zh-CN" altLang="en-US" sz="2800" b="1" spc="1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4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edQTL</a:t>
            </a:r>
            <a:r>
              <a:rPr lang="en-US" altLang="zh-CN" sz="2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和精神分裂症的</a:t>
            </a:r>
            <a:r>
              <a:rPr lang="en-US" altLang="zh-CN" sz="2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GWAS</a:t>
            </a:r>
            <a:r>
              <a:rPr lang="zh-CN" altLang="en-US" sz="2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共定位</a:t>
            </a:r>
            <a:endParaRPr lang="zh-CN" altLang="en-US" sz="2800" dirty="0">
              <a:solidFill>
                <a:sysClr val="windowText" lastClr="000000"/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94094" y="730887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34" name="文本框 33"/>
          <p:cNvSpPr txBox="1"/>
          <p:nvPr/>
        </p:nvSpPr>
        <p:spPr>
          <a:xfrm>
            <a:off x="873832" y="5899979"/>
            <a:ext cx="1138447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ambria" panose="02040503050406030204" pitchFamily="18" charset="0"/>
                <a:ea typeface="宋体" panose="02010600030101010101" pitchFamily="2" charset="-122"/>
              </a:rPr>
              <a:t>在基因水平上，</a:t>
            </a:r>
            <a:r>
              <a:rPr lang="en-US" altLang="zh-CN" dirty="0" err="1">
                <a:latin typeface="Cambria" panose="02040503050406030204" pitchFamily="18" charset="0"/>
                <a:ea typeface="宋体" panose="02010600030101010101" pitchFamily="2" charset="-122"/>
              </a:rPr>
              <a:t>BrainGVEX</a:t>
            </a:r>
            <a:r>
              <a:rPr lang="zh-CN" altLang="en-US" dirty="0">
                <a:latin typeface="Cambria" panose="02040503050406030204" pitchFamily="18" charset="0"/>
                <a:ea typeface="宋体" panose="02010600030101010101" pitchFamily="2" charset="-122"/>
              </a:rPr>
              <a:t>与</a:t>
            </a:r>
            <a:r>
              <a:rPr lang="en-US" altLang="zh-CN" dirty="0">
                <a:latin typeface="Cambria" panose="02040503050406030204" pitchFamily="18" charset="0"/>
                <a:ea typeface="宋体" panose="02010600030101010101" pitchFamily="2" charset="-122"/>
              </a:rPr>
              <a:t>CBB</a:t>
            </a:r>
            <a:r>
              <a:rPr lang="zh-CN" altLang="en-US" dirty="0">
                <a:latin typeface="Cambria" panose="02040503050406030204" pitchFamily="18" charset="0"/>
                <a:ea typeface="宋体" panose="02010600030101010101" pitchFamily="2" charset="-122"/>
              </a:rPr>
              <a:t>的重叠结果为</a:t>
            </a:r>
            <a:r>
              <a:rPr lang="en-US" altLang="zh-CN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UBE2D3</a:t>
            </a:r>
            <a:r>
              <a:rPr lang="zh-CN" altLang="en-US" dirty="0">
                <a:latin typeface="Cambria" panose="02040503050406030204" pitchFamily="18" charset="0"/>
                <a:ea typeface="宋体" panose="02010600030101010101" pitchFamily="2" charset="-122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DGKI</a:t>
            </a:r>
            <a:r>
              <a:rPr lang="zh-CN" altLang="en-US" dirty="0">
                <a:latin typeface="Cambria" panose="02040503050406030204" pitchFamily="18" charset="0"/>
                <a:ea typeface="宋体" panose="02010600030101010101" pitchFamily="2" charset="-122"/>
              </a:rPr>
              <a:t>；</a:t>
            </a:r>
            <a:br>
              <a:rPr lang="zh-CN" altLang="en-US" dirty="0">
                <a:latin typeface="Cambria" panose="02040503050406030204" pitchFamily="18" charset="0"/>
                <a:ea typeface="宋体" panose="02010600030101010101" pitchFamily="2" charset="-122"/>
              </a:rPr>
            </a:br>
            <a:r>
              <a:rPr lang="zh-CN" altLang="en-US" dirty="0">
                <a:latin typeface="Cambria" panose="02040503050406030204" pitchFamily="18" charset="0"/>
                <a:ea typeface="宋体" panose="02010600030101010101" pitchFamily="2" charset="-122"/>
              </a:rPr>
              <a:t>在位点水平上，二者的重叠结果为</a:t>
            </a:r>
            <a:r>
              <a:rPr lang="en-US" altLang="zh-CN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Chr7_137067935</a:t>
            </a:r>
            <a:r>
              <a:rPr lang="zh-CN" altLang="en-US" dirty="0">
                <a:latin typeface="Cambria" panose="02040503050406030204" pitchFamily="18" charset="0"/>
                <a:ea typeface="宋体" panose="02010600030101010101" pitchFamily="2" charset="-122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Chr4_103731698</a:t>
            </a:r>
            <a:r>
              <a:rPr lang="zh-CN" altLang="en-US" sz="2000" dirty="0">
                <a:latin typeface="Cambria" panose="02040503050406030204" pitchFamily="18" charset="0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972731" y="932221"/>
            <a:ext cx="28481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BrainGVEX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欧洲人群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27" y="744541"/>
            <a:ext cx="3519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ysClr val="windowText" lastClr="000000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中国脑库</a:t>
            </a:r>
            <a:r>
              <a:rPr lang="en-US" altLang="zh-CN" sz="1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400" dirty="0">
                <a:solidFill>
                  <a:sysClr val="windowText" lastClr="000000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东亚人群</a:t>
            </a:r>
            <a:r>
              <a:rPr lang="en-US" altLang="zh-CN" sz="1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921979" y="2766664"/>
            <a:ext cx="29518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ambria" panose="02040503050406030204" pitchFamily="18" charset="0"/>
                <a:ea typeface="宋体" panose="02010600030101010101" pitchFamily="2" charset="-122"/>
              </a:rPr>
              <a:t>DGKI</a:t>
            </a:r>
            <a:r>
              <a:rPr lang="zh-CN" altLang="en-US" sz="1600" dirty="0">
                <a:latin typeface="Cambria" panose="02040503050406030204" pitchFamily="18" charset="0"/>
                <a:ea typeface="宋体" panose="02010600030101010101" pitchFamily="2" charset="-122"/>
              </a:rPr>
              <a:t>：二酰基甘油激酶</a:t>
            </a:r>
            <a:r>
              <a:rPr lang="en-US" altLang="zh-CN" sz="1600" dirty="0">
                <a:latin typeface="Cambria" panose="02040503050406030204" pitchFamily="18" charset="0"/>
                <a:ea typeface="宋体" panose="02010600030101010101" pitchFamily="2" charset="-122"/>
              </a:rPr>
              <a:t>Iota</a:t>
            </a:r>
            <a:r>
              <a:rPr lang="zh-CN" altLang="en-US" sz="1600" dirty="0">
                <a:latin typeface="Cambria" panose="02040503050406030204" pitchFamily="18" charset="0"/>
                <a:ea typeface="宋体" panose="02010600030101010101" pitchFamily="2" charset="-122"/>
              </a:rPr>
              <a:t>，与</a:t>
            </a:r>
            <a:r>
              <a:rPr lang="en-US" altLang="zh-CN" sz="1600" dirty="0">
                <a:latin typeface="Cambria" panose="02040503050406030204" pitchFamily="18" charset="0"/>
                <a:ea typeface="宋体" panose="02010600030101010101" pitchFamily="2" charset="-122"/>
              </a:rPr>
              <a:t>DGKI</a:t>
            </a:r>
            <a:r>
              <a:rPr lang="zh-CN" altLang="en-US" sz="1600" dirty="0">
                <a:latin typeface="Cambria" panose="02040503050406030204" pitchFamily="18" charset="0"/>
                <a:ea typeface="宋体" panose="02010600030101010101" pitchFamily="2" charset="-122"/>
              </a:rPr>
              <a:t>相关的疾病包括阅读障碍（</a:t>
            </a:r>
            <a:r>
              <a:rPr lang="en-US" altLang="zh-CN" sz="1600" dirty="0">
                <a:latin typeface="Cambria" panose="02040503050406030204" pitchFamily="18" charset="0"/>
                <a:ea typeface="宋体" panose="02010600030101010101" pitchFamily="2" charset="-122"/>
              </a:rPr>
              <a:t>Dyslexia</a:t>
            </a:r>
            <a:r>
              <a:rPr lang="zh-CN" altLang="en-US" sz="1600" dirty="0">
                <a:latin typeface="Cambria" panose="02040503050406030204" pitchFamily="18" charset="0"/>
                <a:ea typeface="宋体" panose="02010600030101010101" pitchFamily="2" charset="-122"/>
              </a:rPr>
              <a:t>）。</a:t>
            </a:r>
            <a:endParaRPr lang="en-US" altLang="zh-CN" sz="16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br>
              <a:rPr lang="zh-CN" altLang="en-US" sz="1600" dirty="0">
                <a:latin typeface="Cambria" panose="02040503050406030204" pitchFamily="18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Cambria" panose="02040503050406030204" pitchFamily="18" charset="0"/>
                <a:ea typeface="宋体" panose="02010600030101010101" pitchFamily="2" charset="-122"/>
              </a:rPr>
              <a:t>UBE2D3</a:t>
            </a:r>
            <a:r>
              <a:rPr lang="zh-CN" altLang="en-US" sz="1600" dirty="0">
                <a:latin typeface="Cambria" panose="02040503050406030204" pitchFamily="18" charset="0"/>
                <a:ea typeface="宋体" panose="02010600030101010101" pitchFamily="2" charset="-122"/>
              </a:rPr>
              <a:t>：泛素结合酶，能够激活下游信号通路，促导干扰素</a:t>
            </a:r>
            <a:r>
              <a:rPr lang="en-US" altLang="zh-CN" sz="1600" dirty="0">
                <a:latin typeface="Cambria" panose="02040503050406030204" pitchFamily="18" charset="0"/>
                <a:ea typeface="宋体" panose="02010600030101010101" pitchFamily="2" charset="-122"/>
              </a:rPr>
              <a:t>β</a:t>
            </a:r>
            <a:r>
              <a:rPr lang="zh-CN" altLang="en-US" sz="1600" dirty="0">
                <a:latin typeface="Cambria" panose="020405030504060302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600" dirty="0">
                <a:latin typeface="Cambria" panose="02040503050406030204" pitchFamily="18" charset="0"/>
                <a:ea typeface="宋体" panose="02010600030101010101" pitchFamily="2" charset="-122"/>
              </a:rPr>
              <a:t>interferon beta</a:t>
            </a:r>
            <a:r>
              <a:rPr lang="zh-CN" altLang="en-US" sz="1600" dirty="0">
                <a:latin typeface="Cambria" panose="02040503050406030204" pitchFamily="18" charset="0"/>
                <a:ea typeface="宋体" panose="02010600030101010101" pitchFamily="2" charset="-122"/>
              </a:rPr>
              <a:t>）的产生。</a:t>
            </a:r>
            <a:endParaRPr lang="en-US" altLang="zh-CN" sz="1600" dirty="0"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CAE3AFF-7B16-4E70-971D-F9B880518163}"/>
              </a:ext>
            </a:extLst>
          </p:cNvPr>
          <p:cNvGraphicFramePr>
            <a:graphicFrameLocks noGrp="1"/>
          </p:cNvGraphicFramePr>
          <p:nvPr/>
        </p:nvGraphicFramePr>
        <p:xfrm>
          <a:off x="929104" y="1052318"/>
          <a:ext cx="3621156" cy="47555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2248">
                  <a:extLst>
                    <a:ext uri="{9D8B030D-6E8A-4147-A177-3AD203B41FA5}">
                      <a16:colId xmlns:a16="http://schemas.microsoft.com/office/drawing/2014/main" val="2542852970"/>
                    </a:ext>
                  </a:extLst>
                </a:gridCol>
                <a:gridCol w="897774">
                  <a:extLst>
                    <a:ext uri="{9D8B030D-6E8A-4147-A177-3AD203B41FA5}">
                      <a16:colId xmlns:a16="http://schemas.microsoft.com/office/drawing/2014/main" val="3235279377"/>
                    </a:ext>
                  </a:extLst>
                </a:gridCol>
                <a:gridCol w="737896">
                  <a:extLst>
                    <a:ext uri="{9D8B030D-6E8A-4147-A177-3AD203B41FA5}">
                      <a16:colId xmlns:a16="http://schemas.microsoft.com/office/drawing/2014/main" val="2832388499"/>
                    </a:ext>
                  </a:extLst>
                </a:gridCol>
                <a:gridCol w="793238">
                  <a:extLst>
                    <a:ext uri="{9D8B030D-6E8A-4147-A177-3AD203B41FA5}">
                      <a16:colId xmlns:a16="http://schemas.microsoft.com/office/drawing/2014/main" val="4077968098"/>
                    </a:ext>
                  </a:extLst>
                </a:gridCol>
              </a:tblGrid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Editing_site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edGene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PP.H4.abf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Annotation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96196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chr10_104236014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MFSD13A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0.9914</a:t>
                      </a:r>
                      <a:endParaRPr lang="zh-CN" altLang="en-US" sz="1000" kern="1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UTR3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2922710212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chr7_137067937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DGKI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0.9851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UTR3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24876373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chr8_4820801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CSMD1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0.9841</a:t>
                      </a:r>
                      <a:endParaRPr lang="zh-CN" altLang="en-US" sz="1000" kern="1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1792296579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chr7_137067935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DGKI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0.9827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UTR3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3598278726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chr7_137067938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DGKI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0.9551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UTR3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2956907579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chr12_123688307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MPHOSPH9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0.9399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104328763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chr4_103732651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UBE2D3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0.9277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2292665755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chr4_103732420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UBE2D3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0.9246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2502801220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chr10_65094271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JMJD1C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0.9218</a:t>
                      </a:r>
                      <a:endParaRPr lang="zh-CN" altLang="en-US" sz="1000" kern="1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1187338181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chr4_103735574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AC018797.3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0.9027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355793921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chr4_103732821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UBE2D3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0.9018</a:t>
                      </a:r>
                      <a:endParaRPr lang="zh-CN" altLang="en-US" sz="1000" kern="1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2423817130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chr4_103732726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UBE2D3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0.8991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3512608583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chr8_4819951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CSMD1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0.8983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11242862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chr4_103731698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UBE2D3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0.8894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1873828198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chr4_103732673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UBE2D3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0.8876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758176714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chr4_103732408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UBE2D3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0.8793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2406526495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chr4_103731740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UBE2D3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0.8762</a:t>
                      </a:r>
                      <a:endParaRPr lang="zh-CN" altLang="en-US" sz="1000" kern="100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3911714001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chr4_103735697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AC018797.3</a:t>
                      </a: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0.8487</a:t>
                      </a:r>
                      <a:endParaRPr lang="zh-CN" altLang="en-US" sz="900" kern="120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Intronic</a:t>
                      </a: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4026104711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chr4_21879878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KCNIP4</a:t>
                      </a: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0.7691</a:t>
                      </a:r>
                      <a:endParaRPr lang="zh-CN" altLang="en-US" sz="900" kern="120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intronic</a:t>
                      </a: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2365044276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chr4_21836629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KCNIP4</a:t>
                      </a: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0.7617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8277" marR="58277" marT="38851" marB="38851" anchor="ctr"/>
                </a:tc>
                <a:tc>
                  <a:txBody>
                    <a:bodyPr/>
                    <a:lstStyle/>
                    <a:p>
                      <a:pPr marL="0" marR="0"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intronic</a:t>
                      </a:r>
                    </a:p>
                  </a:txBody>
                  <a:tcPr marL="58277" marR="58277" marT="38851" marB="38851" anchor="ctr"/>
                </a:tc>
                <a:extLst>
                  <a:ext uri="{0D108BD9-81ED-4DB2-BD59-A6C34878D82A}">
                    <a16:rowId xmlns:a16="http://schemas.microsoft.com/office/drawing/2014/main" val="324675838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ABBF942-1DA7-49E7-9BA8-B3AF79C5FB1C}"/>
              </a:ext>
            </a:extLst>
          </p:cNvPr>
          <p:cNvGraphicFramePr>
            <a:graphicFrameLocks noGrp="1"/>
          </p:cNvGraphicFramePr>
          <p:nvPr/>
        </p:nvGraphicFramePr>
        <p:xfrm>
          <a:off x="5032649" y="1265426"/>
          <a:ext cx="3621157" cy="4527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2043">
                  <a:extLst>
                    <a:ext uri="{9D8B030D-6E8A-4147-A177-3AD203B41FA5}">
                      <a16:colId xmlns:a16="http://schemas.microsoft.com/office/drawing/2014/main" val="2394922544"/>
                    </a:ext>
                  </a:extLst>
                </a:gridCol>
                <a:gridCol w="775542">
                  <a:extLst>
                    <a:ext uri="{9D8B030D-6E8A-4147-A177-3AD203B41FA5}">
                      <a16:colId xmlns:a16="http://schemas.microsoft.com/office/drawing/2014/main" val="3393440203"/>
                    </a:ext>
                  </a:extLst>
                </a:gridCol>
                <a:gridCol w="706822">
                  <a:extLst>
                    <a:ext uri="{9D8B030D-6E8A-4147-A177-3AD203B41FA5}">
                      <a16:colId xmlns:a16="http://schemas.microsoft.com/office/drawing/2014/main" val="1266208792"/>
                    </a:ext>
                  </a:extLst>
                </a:gridCol>
                <a:gridCol w="996750">
                  <a:extLst>
                    <a:ext uri="{9D8B030D-6E8A-4147-A177-3AD203B41FA5}">
                      <a16:colId xmlns:a16="http://schemas.microsoft.com/office/drawing/2014/main" val="2085293202"/>
                    </a:ext>
                  </a:extLst>
                </a:gridCol>
              </a:tblGrid>
              <a:tr h="310792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Editing_site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edgene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PP.H4.abf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Annotation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385326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chr17_19091374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SNORD3A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0.9824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intronic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373639254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chr17_19091369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SNORD3A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0.9808</a:t>
                      </a:r>
                      <a:endParaRPr lang="zh-CN" altLang="en-US" sz="1000" kern="120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intronic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379065032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chr14_51460108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TRIM9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0.9798</a:t>
                      </a:r>
                      <a:endParaRPr lang="zh-CN" altLang="en-US" sz="1000" kern="120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intronic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533081028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chr14_51460183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TRIM9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0.9773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ncRNA_exonic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194105444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chr7_137067935</a:t>
                      </a:r>
                    </a:p>
                  </a:txBody>
                  <a:tcPr marL="68580" marR="6858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DGKI</a:t>
                      </a:r>
                    </a:p>
                  </a:txBody>
                  <a:tcPr marL="68580" marR="6858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0.9758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UTR3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340292496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chr7_137067938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DGKI</a:t>
                      </a:r>
                    </a:p>
                  </a:txBody>
                  <a:tcPr marL="68580" marR="6858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0.9755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UTR3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486734182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chr1_243791949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AKT3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0.9723</a:t>
                      </a:r>
                      <a:endParaRPr lang="zh-CN" altLang="en-US" sz="1000" kern="120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intronic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71708967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chr11_130741952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SNX19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0.9409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intergenic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563283685"/>
                  </a:ext>
                </a:extLst>
              </a:tr>
              <a:tr h="195666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chr3_76216344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ROBO2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0.9300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intronic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20440045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chr2_233743527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NGEF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0.9136</a:t>
                      </a:r>
                      <a:endParaRPr lang="zh-CN" altLang="en-US" sz="1000" kern="120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UTR3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395925172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chr13_21948502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ZDHHC20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0.9089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UTR3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681902723"/>
                  </a:ext>
                </a:extLst>
              </a:tr>
              <a:tr h="189507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chr2_25381529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EFR3B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0.8400</a:t>
                      </a:r>
                      <a:endParaRPr lang="zh-CN" altLang="en-US" sz="1000" kern="120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UTR3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122346196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chr4_103731698</a:t>
                      </a:r>
                    </a:p>
                  </a:txBody>
                  <a:tcPr marL="68580" marR="6858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UBE2D3</a:t>
                      </a:r>
                    </a:p>
                  </a:txBody>
                  <a:tcPr marL="68580" marR="6858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0.8184</a:t>
                      </a:r>
                      <a:endParaRPr lang="zh-CN" altLang="en-US" sz="1000" kern="120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intronic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49011729"/>
                  </a:ext>
                </a:extLst>
              </a:tr>
              <a:tr h="310792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chr16_21531494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SLC7A5P2</a:t>
                      </a:r>
                      <a:endParaRPr lang="en-US" sz="1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2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0.7939</a:t>
                      </a:r>
                      <a:endParaRPr lang="zh-CN" altLang="en-US" sz="1000" kern="1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ncRNA_exonic</a:t>
                      </a:r>
                      <a:endParaRPr lang="en-US" sz="1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6584998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24843" y="2189788"/>
          <a:ext cx="5252057" cy="25207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4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Editing_region</a:t>
                      </a:r>
                      <a:endParaRPr lang="zh-CN" alt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gene</a:t>
                      </a:r>
                    </a:p>
                  </a:txBody>
                  <a:tcPr marL="4763" marR="4763" marT="476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PP.H4.abf</a:t>
                      </a:r>
                    </a:p>
                  </a:txBody>
                  <a:tcPr marL="4763" marR="4763" marT="476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Annotation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7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chr10_104236014_ld</a:t>
                      </a: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MFSD13A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443" marR="5443" marT="544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0.9406</a:t>
                      </a:r>
                    </a:p>
                  </a:txBody>
                  <a:tcPr marL="5443" marR="5443" marT="544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UTR3</a:t>
                      </a:r>
                    </a:p>
                  </a:txBody>
                  <a:tcPr marL="5443" marR="5443" marT="544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chr4_103731698_ld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UBE2D3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443" marR="5443" marT="54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0.8940</a:t>
                      </a:r>
                    </a:p>
                  </a:txBody>
                  <a:tcPr marL="5443" marR="5443" marT="54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</a:p>
                  </a:txBody>
                  <a:tcPr marL="5443" marR="5443" marT="54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chr4_103735687_ld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AC018797.3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443" marR="5443" marT="54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0.8921</a:t>
                      </a:r>
                    </a:p>
                  </a:txBody>
                  <a:tcPr marL="5443" marR="5443" marT="54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ncRNA_exonic</a:t>
                      </a:r>
                      <a:endParaRPr lang="en-US" altLang="zh-CN" sz="1600" b="0" i="0" u="none" strike="noStrik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443" marR="5443" marT="54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6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chr10_65094271_ld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JMJD1C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443" marR="5443" marT="54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0.8535</a:t>
                      </a:r>
                    </a:p>
                  </a:txBody>
                  <a:tcPr marL="5443" marR="5443" marT="544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5443" marR="5443" marT="544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77"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chr8_4819932_ld</a:t>
                      </a:r>
                    </a:p>
                  </a:txBody>
                  <a:tcPr marL="7620" marR="7620" marT="762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CSMD1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5443" marR="5443" marT="5443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0.7174</a:t>
                      </a:r>
                    </a:p>
                  </a:txBody>
                  <a:tcPr marL="5443" marR="5443" marT="5443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intronic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5443" marR="5443" marT="5443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179572" y="2189788"/>
          <a:ext cx="5133473" cy="1390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4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9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1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Editing_region</a:t>
                      </a:r>
                      <a:endParaRPr lang="zh-CN" alt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gene</a:t>
                      </a:r>
                    </a:p>
                  </a:txBody>
                  <a:tcPr marL="4763" marR="4763" marT="476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PP.H4.abf</a:t>
                      </a:r>
                    </a:p>
                  </a:txBody>
                  <a:tcPr marL="4763" marR="4763" marT="476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Annotation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3" marR="4763" marT="4763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2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chr3_76216231_ld</a:t>
                      </a: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ROBO2</a:t>
                      </a: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0.8929</a:t>
                      </a: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intronic</a:t>
                      </a:r>
                    </a:p>
                  </a:txBody>
                  <a:tcPr marL="7620" marR="7620" marT="762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2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chr7_38764259_ld</a:t>
                      </a:r>
                    </a:p>
                  </a:txBody>
                  <a:tcPr marL="7620" marR="7620" marT="762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VPS41</a:t>
                      </a:r>
                    </a:p>
                  </a:txBody>
                  <a:tcPr marL="7620" marR="7620" marT="762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0.7680</a:t>
                      </a:r>
                    </a:p>
                  </a:txBody>
                  <a:tcPr marL="7620" marR="7620" marT="762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UTR3</a:t>
                      </a:r>
                    </a:p>
                  </a:txBody>
                  <a:tcPr marL="7620" marR="7620" marT="762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594363" y="755968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5" name="组合 4"/>
          <p:cNvGrpSpPr/>
          <p:nvPr/>
        </p:nvGrpSpPr>
        <p:grpSpPr>
          <a:xfrm>
            <a:off x="203760" y="159731"/>
            <a:ext cx="725344" cy="619479"/>
            <a:chOff x="178632" y="159728"/>
            <a:chExt cx="725344" cy="619478"/>
          </a:xfrm>
        </p:grpSpPr>
        <p:sp>
          <p:nvSpPr>
            <p:cNvPr id="6" name="椭圆 5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1200" i="1" dirty="0">
                <a:solidFill>
                  <a:prstClr val="white"/>
                </a:solidFill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30876" y="233483"/>
              <a:ext cx="673100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en-US" altLang="zh-CN" sz="1600" i="1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03</a:t>
              </a:r>
              <a:endParaRPr lang="zh-CN" altLang="en-US" sz="1600" i="1" dirty="0">
                <a:solidFill>
                  <a:prstClr val="white"/>
                </a:solidFill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1200" i="1" dirty="0">
                <a:solidFill>
                  <a:prstClr val="white"/>
                </a:solidFill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标题占位符 1"/>
          <p:cNvSpPr txBox="1"/>
          <p:nvPr/>
        </p:nvSpPr>
        <p:spPr>
          <a:xfrm>
            <a:off x="1199517" y="316"/>
            <a:ext cx="10788727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>
              <a:defRPr/>
            </a:pPr>
            <a:r>
              <a:rPr lang="zh-CN" altLang="en-US" sz="2600" b="1" spc="1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结果</a:t>
            </a:r>
            <a:r>
              <a:rPr lang="en-US" altLang="zh-CN" sz="2600" b="1" spc="1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4.6</a:t>
            </a:r>
            <a:r>
              <a:rPr lang="zh-CN" altLang="en-US" sz="2800" b="1" spc="1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4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redQTL</a:t>
            </a:r>
            <a:r>
              <a:rPr lang="en-US" altLang="zh-CN" sz="2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和精神分裂症</a:t>
            </a:r>
            <a:r>
              <a:rPr lang="en-US" altLang="zh-CN" sz="2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GWAS</a:t>
            </a:r>
            <a:r>
              <a:rPr lang="zh-CN" altLang="en-US" sz="2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的共定位情况</a:t>
            </a:r>
            <a:endParaRPr lang="zh-CN" altLang="en-US" sz="2800" dirty="0">
              <a:solidFill>
                <a:sysClr val="windowText" lastClr="000000"/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28627" y="1622197"/>
            <a:ext cx="1610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东亚人群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26431" y="1644458"/>
            <a:ext cx="20626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欧洲人群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77670" y="5748089"/>
            <a:ext cx="4705156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Cambria" panose="02040503050406030204" pitchFamily="18" charset="0"/>
                <a:ea typeface="宋体" panose="02010600030101010101" pitchFamily="2" charset="-122"/>
              </a:rPr>
              <a:t>在欧洲人群中，</a:t>
            </a:r>
            <a:r>
              <a:rPr lang="en-US" altLang="zh-CN" sz="2000" dirty="0">
                <a:latin typeface="Cambria" panose="02040503050406030204" pitchFamily="18" charset="0"/>
                <a:ea typeface="宋体" panose="02010600030101010101" pitchFamily="2" charset="-122"/>
              </a:rPr>
              <a:t>chr7_38764259_ld</a:t>
            </a:r>
            <a:r>
              <a:rPr lang="zh-CN" altLang="en-US" sz="2000" dirty="0">
                <a:latin typeface="Cambria" panose="02040503050406030204" pitchFamily="18" charset="0"/>
                <a:ea typeface="宋体" panose="02010600030101010101" pitchFamily="2" charset="-122"/>
              </a:rPr>
              <a:t>为仅在</a:t>
            </a:r>
            <a:r>
              <a:rPr lang="en-US" altLang="zh-CN" sz="2000" dirty="0" err="1">
                <a:latin typeface="Cambria" panose="02040503050406030204" pitchFamily="18" charset="0"/>
                <a:ea typeface="宋体" panose="02010600030101010101" pitchFamily="2" charset="-122"/>
              </a:rPr>
              <a:t>redQTL</a:t>
            </a:r>
            <a:r>
              <a:rPr lang="zh-CN" altLang="en-US" sz="2000" dirty="0">
                <a:latin typeface="Cambria" panose="02040503050406030204" pitchFamily="18" charset="0"/>
                <a:ea typeface="宋体" panose="02010600030101010101" pitchFamily="2" charset="-122"/>
              </a:rPr>
              <a:t>层级共定位的新增信号</a:t>
            </a:r>
            <a:endParaRPr lang="en-US" altLang="zh-CN" sz="2000" dirty="0"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0E28AB-53DE-4FED-A9D7-60FA2530AF4D}"/>
              </a:ext>
            </a:extLst>
          </p:cNvPr>
          <p:cNvSpPr txBox="1"/>
          <p:nvPr/>
        </p:nvSpPr>
        <p:spPr>
          <a:xfrm>
            <a:off x="1569978" y="5235803"/>
            <a:ext cx="3804127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Cambria" panose="02040503050406030204" pitchFamily="18" charset="0"/>
                <a:ea typeface="宋体" panose="02010600030101010101" pitchFamily="2" charset="-122"/>
              </a:rPr>
              <a:t>在东亚人群中，共定位结果完全包含于</a:t>
            </a:r>
            <a:r>
              <a:rPr lang="en-US" altLang="zh-CN" sz="2000" dirty="0" err="1">
                <a:latin typeface="Cambria" panose="02040503050406030204" pitchFamily="18" charset="0"/>
                <a:ea typeface="宋体" panose="02010600030101010101" pitchFamily="2" charset="-122"/>
              </a:rPr>
              <a:t>edQTL</a:t>
            </a:r>
            <a:r>
              <a:rPr lang="zh-CN" altLang="en-US" sz="2000" dirty="0">
                <a:latin typeface="Cambria" panose="02040503050406030204" pitchFamily="18" charset="0"/>
                <a:ea typeface="宋体" panose="02010600030101010101" pitchFamily="2" charset="-122"/>
              </a:rPr>
              <a:t>的共定位结果中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FF141E-094E-8C24-070E-D3CCFC8B333A}"/>
              </a:ext>
            </a:extLst>
          </p:cNvPr>
          <p:cNvSpPr txBox="1"/>
          <p:nvPr/>
        </p:nvSpPr>
        <p:spPr>
          <a:xfrm>
            <a:off x="5765244" y="3752937"/>
            <a:ext cx="6223000" cy="16312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2000" dirty="0" err="1">
                <a:solidFill>
                  <a:srgbClr val="FC7038"/>
                </a:solidFill>
                <a:effectLst/>
                <a:latin typeface="Helvetica" pitchFamily="2" charset="0"/>
              </a:rPr>
              <a:t>redqtl</a:t>
            </a:r>
            <a:r>
              <a:rPr lang="en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  nominal 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的信号：</a:t>
            </a:r>
            <a:r>
              <a:rPr lang="en-US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122228</a:t>
            </a:r>
            <a:r>
              <a:rPr lang="en-US" altLang="zh-CN" sz="2000" dirty="0">
                <a:solidFill>
                  <a:srgbClr val="FC70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Helvetica" pitchFamily="2" charset="0"/>
              </a:rPr>
              <a:t> </a:t>
            </a:r>
            <a:r>
              <a:rPr lang="en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Edregion</a:t>
            </a:r>
            <a:r>
              <a:rPr lang="zh-CN" altLang="en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</a:t>
            </a:r>
            <a:r>
              <a:rPr lang="en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  558    pph4&gt;0.7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</a:t>
            </a:r>
            <a:r>
              <a:rPr lang="en-US" altLang="zh-CN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:</a:t>
            </a:r>
            <a:r>
              <a:rPr lang="en-US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5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个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Helvetica" pitchFamily="2" charset="0"/>
              </a:rPr>
              <a:t>    </a:t>
            </a:r>
            <a:r>
              <a:rPr lang="en-US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&gt;0.85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</a:t>
            </a:r>
            <a:r>
              <a:rPr lang="en-US" altLang="zh-CN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:</a:t>
            </a:r>
            <a:r>
              <a:rPr lang="en-US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4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个</a:t>
            </a:r>
            <a:endParaRPr lang="en-US" altLang="zh-CN" sz="2000" dirty="0">
              <a:solidFill>
                <a:srgbClr val="FC7038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endParaRPr lang="zh-CN" altLang="en-US" sz="2000" dirty="0">
              <a:solidFill>
                <a:srgbClr val="FC7038"/>
              </a:solidFill>
              <a:effectLst/>
              <a:latin typeface="Helvetica" pitchFamily="2" charset="0"/>
            </a:endParaRPr>
          </a:p>
          <a:p>
            <a:r>
              <a:rPr lang="en" altLang="zh-CN" sz="2000" dirty="0" err="1">
                <a:solidFill>
                  <a:srgbClr val="FC7038"/>
                </a:solidFill>
                <a:effectLst/>
                <a:latin typeface="Helvetica" pitchFamily="2" charset="0"/>
              </a:rPr>
              <a:t>redqtl</a:t>
            </a:r>
            <a:r>
              <a:rPr lang="en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rgbClr val="FC70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:</a:t>
            </a:r>
            <a:r>
              <a:rPr lang="en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effect size  &amp; p 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均在前</a:t>
            </a:r>
            <a:r>
              <a:rPr lang="en-US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10%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</a:t>
            </a:r>
            <a:r>
              <a:rPr lang="en-US" altLang="zh-CN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:</a:t>
            </a:r>
            <a:r>
              <a:rPr lang="en-US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 8234   </a:t>
            </a:r>
          </a:p>
          <a:p>
            <a:r>
              <a:rPr lang="en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Edregion</a:t>
            </a:r>
            <a:r>
              <a:rPr lang="zh-CN" altLang="en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</a:t>
            </a:r>
            <a:r>
              <a:rPr lang="en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118         </a:t>
            </a:r>
            <a:r>
              <a:rPr lang="en-US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 &gt;0.75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Helvetica" pitchFamily="2" charset="0"/>
              </a:rPr>
              <a:t>的</a:t>
            </a:r>
            <a:r>
              <a:rPr lang="en" altLang="zh-CN" sz="2000" dirty="0">
                <a:solidFill>
                  <a:srgbClr val="FC7038"/>
                </a:solidFill>
                <a:effectLst/>
                <a:latin typeface="Helvetica" pitchFamily="2" charset="0"/>
              </a:rPr>
              <a:t> 1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个</a:t>
            </a:r>
            <a:r>
              <a:rPr lang="zh-CN" altLang="en-US" sz="2000" dirty="0">
                <a:solidFill>
                  <a:srgbClr val="FC7038"/>
                </a:solidFill>
                <a:effectLst/>
                <a:latin typeface="Helvetica" pitchFamily="2" charset="0"/>
              </a:rPr>
              <a:t> </a:t>
            </a:r>
            <a:r>
              <a:rPr lang="en" altLang="zh-CN" sz="2000" dirty="0">
                <a:solidFill>
                  <a:srgbClr val="000000"/>
                </a:solidFill>
                <a:effectLst/>
                <a:latin typeface="Times"/>
              </a:rPr>
              <a:t>UBE2D3</a:t>
            </a:r>
            <a:endParaRPr lang="en" altLang="zh-CN" sz="2000" dirty="0">
              <a:solidFill>
                <a:srgbClr val="FC7038"/>
              </a:solidFill>
              <a:effectLst/>
              <a:latin typeface="Helvetica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594360" y="755968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1199515" y="316"/>
            <a:ext cx="5435600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kern="1200" cap="none" spc="6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kern="1200" cap="none" spc="6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</a:t>
            </a:r>
            <a:r>
              <a:rPr lang="en-US" altLang="zh-CN" sz="1000" spc="3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South University</a:t>
            </a:r>
            <a:endParaRPr kumimoji="0" lang="zh-CN" altLang="en-US" sz="1000" b="0" i="0" kern="1200" cap="none" spc="300" normalizeH="0" baseline="0" noProof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标题占位符 1"/>
          <p:cNvSpPr txBox="1"/>
          <p:nvPr/>
        </p:nvSpPr>
        <p:spPr>
          <a:xfrm>
            <a:off x="1199515" y="316"/>
            <a:ext cx="6240376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1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:</a:t>
            </a:r>
            <a:r>
              <a:rPr lang="zh-CN" altLang="en-US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type of </a:t>
            </a:r>
            <a:r>
              <a:rPr lang="en-US" altLang="zh-CN" sz="28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exonic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edsites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931" y="1395251"/>
            <a:ext cx="8201594" cy="4535466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807207" y="1014054"/>
            <a:ext cx="6025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Cambria" panose="02040503050406030204" pitchFamily="18" charset="0"/>
              </a:rPr>
              <a:t>49sites,</a:t>
            </a:r>
            <a:r>
              <a:rPr lang="zh-CN" altLang="en-US" sz="3600" dirty="0">
                <a:latin typeface="Cambria" panose="02040503050406030204" pitchFamily="18" charset="0"/>
              </a:rPr>
              <a:t> 2</a:t>
            </a:r>
            <a:r>
              <a:rPr lang="en-US" altLang="zh-CN" sz="3600" dirty="0">
                <a:latin typeface="Cambria" panose="02040503050406030204" pitchFamily="18" charset="0"/>
              </a:rPr>
              <a:t>3</a:t>
            </a:r>
            <a:r>
              <a:rPr lang="zh-CN" altLang="en-US" sz="3600" dirty="0">
                <a:latin typeface="Cambria" panose="02040503050406030204" pitchFamily="18" charset="0"/>
              </a:rPr>
              <a:t> </a:t>
            </a:r>
            <a:r>
              <a:rPr lang="en-US" altLang="zh-CN" sz="3600" dirty="0">
                <a:latin typeface="Cambria" panose="02040503050406030204" pitchFamily="18" charset="0"/>
                <a:ea typeface="Cambria" panose="02040503050406030204" pitchFamily="18" charset="0"/>
              </a:rPr>
              <a:t>genes</a:t>
            </a:r>
            <a:endParaRPr lang="zh-CN" altLang="en-US" sz="3600" dirty="0">
              <a:latin typeface="Cambria" panose="020405030504060302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90006" y="5587763"/>
            <a:ext cx="104149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Cambria" panose="02040503050406030204" pitchFamily="18" charset="0"/>
                <a:ea typeface="Cambria" panose="02040503050406030204" pitchFamily="18" charset="0"/>
              </a:rPr>
              <a:t>We found that most of </a:t>
            </a:r>
            <a:r>
              <a:rPr lang="en-US" altLang="zh-CN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edsites</a:t>
            </a:r>
            <a:r>
              <a:rPr lang="en-US" altLang="zh-CN" sz="2800" dirty="0">
                <a:latin typeface="Cambria" panose="02040503050406030204" pitchFamily="18" charset="0"/>
                <a:ea typeface="Cambria" panose="02040503050406030204" pitchFamily="18" charset="0"/>
              </a:rPr>
              <a:t> in exon region are </a:t>
            </a:r>
            <a:r>
              <a:rPr lang="en-US" altLang="zh-CN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nonsynonymous.unknown</a:t>
            </a:r>
            <a:r>
              <a:rPr lang="en-US" altLang="zh-CN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zh-CN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为什么</a:t>
            </a:r>
            <a:endParaRPr lang="en-US" altLang="zh-C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594360" y="755968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1199515" y="316"/>
            <a:ext cx="5435600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kern="1200" cap="none" spc="6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kern="1200" cap="none" spc="6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</a:t>
            </a:r>
            <a:r>
              <a:rPr lang="en-US" altLang="zh-CN" sz="1000" spc="3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South University</a:t>
            </a:r>
            <a:endParaRPr kumimoji="0" lang="zh-CN" altLang="en-US" sz="1000" b="0" i="0" kern="1200" cap="none" spc="300" normalizeH="0" baseline="0" noProof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标题占位符 1"/>
          <p:cNvSpPr txBox="1"/>
          <p:nvPr/>
        </p:nvSpPr>
        <p:spPr>
          <a:xfrm>
            <a:off x="1199515" y="316"/>
            <a:ext cx="6240376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1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:</a:t>
            </a:r>
            <a:r>
              <a:rPr lang="zh-CN" altLang="en-US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Genes in exon region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3760" y="936596"/>
            <a:ext cx="5359869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表格 （基因，变异类型，功能，疾病，</a:t>
            </a:r>
            <a:r>
              <a:rPr lang="en-US" altLang="zh-CN" sz="1400" b="1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editingsite</a:t>
            </a:r>
            <a:r>
              <a:rPr lang="zh-CN" alt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）</a:t>
            </a:r>
            <a:endParaRPr lang="en-US" altLang="zh-CN" sz="1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r>
              <a:rPr lang="en-US" altLang="zh-CN" sz="14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ACYP2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酰基磷酸酶 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</a:p>
          <a:p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ATP/ITP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代谢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腺嘌呤磷酸核糖转移酶缺乏症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虱子感染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药物引起的听力损失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r>
              <a:rPr lang="en-US" altLang="zh-CN" sz="1400" b="1" dirty="0">
                <a:latin typeface="Cambria" panose="02040503050406030204" pitchFamily="18" charset="0"/>
                <a:ea typeface="宋体" panose="02010600030101010101" pitchFamily="2" charset="-122"/>
              </a:rPr>
              <a:t>ARL6IP4</a:t>
            </a:r>
          </a:p>
          <a:p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ADP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核糖基化因子类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GTPase 6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相互作用蛋白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4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参与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RNA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剪接和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mRNA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加工</a:t>
            </a:r>
            <a:endParaRPr lang="en-US" altLang="zh-CN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endParaRPr lang="en-US" altLang="zh-CN" sz="1400" b="1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latin typeface="Cambria" panose="02040503050406030204" pitchFamily="18" charset="0"/>
                <a:ea typeface="宋体" panose="02010600030101010101" pitchFamily="2" charset="-122"/>
              </a:rPr>
              <a:t>CCNI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细胞周期蛋白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I 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有丝分裂</a:t>
            </a:r>
            <a:endParaRPr lang="en-US" altLang="zh-CN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肾结核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泌尿生殖系统结核 </a:t>
            </a:r>
            <a:endParaRPr lang="en-US" altLang="zh-CN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endParaRPr lang="en-US" altLang="zh-CN" sz="1400" b="1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latin typeface="Cambria" panose="02040503050406030204" pitchFamily="18" charset="0"/>
                <a:ea typeface="宋体" panose="02010600030101010101" pitchFamily="2" charset="-122"/>
              </a:rPr>
              <a:t>CPSF6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裂解和多聚腺苷酸化特异性因子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6 </a:t>
            </a:r>
          </a:p>
          <a:p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3' RNA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切割和多聚腺苷酸化加工</a:t>
            </a:r>
            <a:endParaRPr lang="en-US" altLang="zh-CN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肉碱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-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酰基肉碱转位酶缺乏症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肺癌 </a:t>
            </a:r>
          </a:p>
          <a:p>
            <a:endParaRPr lang="en-US" altLang="zh-CN" sz="1400" b="1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latin typeface="Cambria" panose="02040503050406030204" pitchFamily="18" charset="0"/>
                <a:ea typeface="宋体" panose="02010600030101010101" pitchFamily="2" charset="-122"/>
              </a:rPr>
              <a:t>CYFIP2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细胞质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FMR1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相互作用蛋白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2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激活半胱氨酸型内肽酶活性；凋亡过程；以及细胞间粘附</a:t>
            </a:r>
            <a:endParaRPr lang="en-US" altLang="zh-CN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发育性癫痫性脑病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 非特异性早发性癫痫性脑病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婴儿癫痫综合症</a:t>
            </a:r>
            <a:endParaRPr lang="en-US" altLang="zh-CN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11806" y="755621"/>
            <a:ext cx="57184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Cambria" panose="02040503050406030204" pitchFamily="18" charset="0"/>
                <a:ea typeface="宋体" panose="02010600030101010101" pitchFamily="2" charset="-122"/>
              </a:rPr>
              <a:t>FKBP11</a:t>
            </a:r>
          </a:p>
          <a:p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FKBP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脯氨酰异构酶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11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催化​​含脯氨酰多肽的折叠。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成骨不全症，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V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型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卡菲病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脆骨症</a:t>
            </a:r>
          </a:p>
          <a:p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GRIA4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谷氨酸离子型受体 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AMPA 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型亚基 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4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谷氨酸门控受体活性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跨化学突触的传递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神经发育障碍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癫痫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精神分裂症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自闭症谱系障碍</a:t>
            </a:r>
          </a:p>
          <a:p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GRIK2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谷氨酸离子型受体海人酸亚基 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2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海人酸受体的突触前功能和跨化学突触的传递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癫痫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智力发育障碍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强迫症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亨廷顿病</a:t>
            </a:r>
          </a:p>
          <a:p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latin typeface="Cambria" panose="02040503050406030204" pitchFamily="18" charset="0"/>
                <a:ea typeface="宋体" panose="02010600030101010101" pitchFamily="2" charset="-122"/>
              </a:rPr>
              <a:t>HIF3A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缺氧诱导因子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3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亚基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Alpha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蛋白酶体介导的降解对活化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PAK-2p34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的调节和细胞对刺激的反应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肾细胞癌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红细胞增多症 </a:t>
            </a:r>
          </a:p>
          <a:p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latin typeface="Cambria" panose="02040503050406030204" pitchFamily="18" charset="0"/>
                <a:ea typeface="宋体" panose="02010600030101010101" pitchFamily="2" charset="-122"/>
              </a:rPr>
              <a:t>KCNMA1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钾钙激活通道亚家族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M Alpha 1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平滑肌收缩、神经递质释放和神经元兴奋性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小脑萎缩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发育迟缓和癫痫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594360" y="755968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1199515" y="316"/>
            <a:ext cx="5435600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kern="1200" cap="none" spc="6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kern="1200" cap="none" spc="6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</a:t>
            </a:r>
            <a:r>
              <a:rPr lang="en-US" altLang="zh-CN" sz="1000" spc="3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South University</a:t>
            </a:r>
            <a:endParaRPr kumimoji="0" lang="zh-CN" altLang="en-US" sz="1000" b="0" i="0" kern="1200" cap="none" spc="300" normalizeH="0" baseline="0" noProof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标题占位符 1"/>
          <p:cNvSpPr txBox="1"/>
          <p:nvPr/>
        </p:nvSpPr>
        <p:spPr>
          <a:xfrm>
            <a:off x="1199515" y="316"/>
            <a:ext cx="6240376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1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:</a:t>
            </a:r>
            <a:r>
              <a:rPr lang="zh-CN" altLang="en-US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Genes </a:t>
            </a:r>
            <a:r>
              <a:rPr lang="en-US" altLang="zh-CN" sz="24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exon region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2826" y="975387"/>
            <a:ext cx="59712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latin typeface="Cambria" panose="02040503050406030204" pitchFamily="18" charset="0"/>
                <a:ea typeface="宋体" panose="02010600030101010101" pitchFamily="2" charset="-122"/>
              </a:rPr>
              <a:t>MED21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介导复合物亚基 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21</a:t>
            </a:r>
          </a:p>
          <a:p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RNA 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聚合酶 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II 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转录基因的转录调控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心包积血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伴有躯体型恶性肿瘤的畸胎瘤</a:t>
            </a:r>
          </a:p>
          <a:p>
            <a:endParaRPr lang="zh-CN" altLang="en-US" sz="12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dirty="0">
                <a:latin typeface="Cambria" panose="02040503050406030204" pitchFamily="18" charset="0"/>
                <a:ea typeface="宋体" panose="02010600030101010101" pitchFamily="2" charset="-122"/>
              </a:rPr>
              <a:t>METTL6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甲基转移酶 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6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参与 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tRNA 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甲基化。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成人肝细胞癌 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,Dubowitz 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综合征</a:t>
            </a:r>
          </a:p>
          <a:p>
            <a:endParaRPr lang="zh-CN" altLang="en-US" sz="12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NOVA1</a:t>
            </a:r>
          </a:p>
          <a:p>
            <a:r>
              <a:rPr lang="en-US" altLang="zh-CN" sz="12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NOVA </a:t>
            </a:r>
            <a:r>
              <a:rPr lang="zh-CN" altLang="en-US" sz="12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可变剪接调节剂 </a:t>
            </a:r>
            <a:r>
              <a:rPr lang="en-US" altLang="zh-CN" sz="12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zh-CN" altLang="en-US" sz="12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调节神经元特异性的选择性剪接</a:t>
            </a:r>
          </a:p>
          <a:p>
            <a:r>
              <a:rPr lang="zh-CN" altLang="en-US" sz="12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失智</a:t>
            </a:r>
            <a:r>
              <a:rPr lang="en-US" altLang="zh-CN" sz="12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2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阿尔茨海默病</a:t>
            </a:r>
            <a:endParaRPr lang="en-US" altLang="zh-CN" sz="1200" dirty="0">
              <a:solidFill>
                <a:srgbClr val="C00000"/>
              </a:solidFill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endParaRPr lang="zh-CN" altLang="en-US" sz="12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dirty="0">
                <a:latin typeface="Cambria" panose="02040503050406030204" pitchFamily="18" charset="0"/>
                <a:ea typeface="宋体" panose="02010600030101010101" pitchFamily="2" charset="-122"/>
              </a:rPr>
              <a:t>PTPRZ1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蛋白酪氨酸磷酸酶受体类型 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Z1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免疫系统中的细胞因子信号传导和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ALK 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信号传导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幽门螺杆菌感染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高赖氨酸血症</a:t>
            </a:r>
          </a:p>
          <a:p>
            <a:endParaRPr lang="zh-CN" altLang="en-US" sz="12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dirty="0">
                <a:latin typeface="Cambria" panose="02040503050406030204" pitchFamily="18" charset="0"/>
                <a:ea typeface="宋体" panose="02010600030101010101" pitchFamily="2" charset="-122"/>
              </a:rPr>
              <a:t>PVRIG</a:t>
            </a:r>
          </a:p>
          <a:p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PVR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相关免疫球蛋白结构域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作为抑制 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T 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细胞受体介导信号的共抑制受体</a:t>
            </a:r>
          </a:p>
          <a:p>
            <a:endParaRPr lang="zh-CN" altLang="en-US" sz="12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dirty="0">
                <a:latin typeface="Cambria" panose="02040503050406030204" pitchFamily="18" charset="0"/>
                <a:ea typeface="宋体" panose="02010600030101010101" pitchFamily="2" charset="-122"/>
              </a:rPr>
              <a:t>SLC38A6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溶质载体家族 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38 </a:t>
            </a:r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成员 </a:t>
            </a:r>
            <a:r>
              <a:rPr lang="en-US" altLang="zh-CN" sz="1200" dirty="0">
                <a:latin typeface="Cambria" panose="02040503050406030204" pitchFamily="18" charset="0"/>
                <a:ea typeface="宋体" panose="02010600030101010101" pitchFamily="2" charset="-122"/>
              </a:rPr>
              <a:t>6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氨基酸跨膜转运蛋白活性</a:t>
            </a:r>
          </a:p>
          <a:p>
            <a:r>
              <a:rPr lang="zh-CN" altLang="en-US" sz="1200" dirty="0">
                <a:latin typeface="Cambria" panose="02040503050406030204" pitchFamily="18" charset="0"/>
                <a:ea typeface="宋体" panose="02010600030101010101" pitchFamily="2" charset="-122"/>
              </a:rPr>
              <a:t>胱氨酸尿症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15875" y="866065"/>
            <a:ext cx="6859057" cy="5593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CN" sz="1400" b="1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SON</a:t>
            </a:r>
          </a:p>
          <a:p>
            <a:pPr>
              <a:lnSpc>
                <a:spcPts val="1300"/>
              </a:lnSpc>
            </a:pP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SON DNA 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RNA 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结合蛋白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核酸结合和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RNA 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结合。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发育性癫痫性脑病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额颞叶痴呆和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或肌萎缩侧索硬化症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乙型肝炎</a:t>
            </a:r>
          </a:p>
          <a:p>
            <a:pPr>
              <a:lnSpc>
                <a:spcPts val="1300"/>
              </a:lnSpc>
            </a:pPr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>
              <a:lnSpc>
                <a:spcPts val="1300"/>
              </a:lnSpc>
            </a:pP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SORBS1</a:t>
            </a:r>
          </a:p>
          <a:p>
            <a:pPr>
              <a:lnSpc>
                <a:spcPts val="1300"/>
              </a:lnSpc>
            </a:pPr>
            <a:r>
              <a:rPr lang="en-US" altLang="zh-CN" sz="1400" dirty="0" err="1">
                <a:latin typeface="Cambria" panose="02040503050406030204" pitchFamily="18" charset="0"/>
                <a:ea typeface="宋体" panose="02010600030101010101" pitchFamily="2" charset="-122"/>
              </a:rPr>
              <a:t>Sorbin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SH3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结构域包含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蛋白激酶结合和细胞骨架蛋白结合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前列腺癌和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型糖尿病</a:t>
            </a:r>
          </a:p>
          <a:p>
            <a:pPr>
              <a:lnSpc>
                <a:spcPts val="1300"/>
              </a:lnSpc>
            </a:pPr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>
              <a:lnSpc>
                <a:spcPts val="1300"/>
              </a:lnSpc>
            </a:pP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SRP9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信号识别粒子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9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肽链延长和蛋白质代谢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运动神经炎</a:t>
            </a:r>
          </a:p>
          <a:p>
            <a:pPr>
              <a:lnSpc>
                <a:spcPts val="1300"/>
              </a:lnSpc>
            </a:pPr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>
              <a:lnSpc>
                <a:spcPts val="1300"/>
              </a:lnSpc>
            </a:pP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ZDHHC1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锌指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DHHC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型含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参与抗病毒先天免疫反应；宿主对病毒防御反应的积极调节</a:t>
            </a:r>
          </a:p>
          <a:p>
            <a:pPr>
              <a:lnSpc>
                <a:spcPts val="1300"/>
              </a:lnSpc>
            </a:pP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T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细胞和 </a:t>
            </a:r>
            <a:r>
              <a:rPr lang="en-US" altLang="zh-CN" sz="1400" dirty="0" err="1">
                <a:latin typeface="Cambria" panose="02040503050406030204" pitchFamily="18" charset="0"/>
                <a:ea typeface="宋体" panose="02010600030101010101" pitchFamily="2" charset="-122"/>
              </a:rPr>
              <a:t>Nk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细胞免疫缺陷</a:t>
            </a:r>
          </a:p>
          <a:p>
            <a:pPr>
              <a:lnSpc>
                <a:spcPts val="1300"/>
              </a:lnSpc>
            </a:pPr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>
              <a:lnSpc>
                <a:spcPts val="1300"/>
              </a:lnSpc>
            </a:pP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ZNF506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锌指蛋白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506 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核酸结合</a:t>
            </a:r>
          </a:p>
          <a:p>
            <a:pPr>
              <a:lnSpc>
                <a:spcPts val="1300"/>
              </a:lnSpc>
            </a:pPr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>
              <a:lnSpc>
                <a:spcPts val="1300"/>
              </a:lnSpc>
            </a:pP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ZNF717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锌指蛋白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717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核酸结合和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DNA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结合转录因子活性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前列腺癌</a:t>
            </a:r>
          </a:p>
          <a:p>
            <a:pPr>
              <a:lnSpc>
                <a:spcPts val="1300"/>
              </a:lnSpc>
            </a:pPr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pPr>
              <a:lnSpc>
                <a:spcPts val="1300"/>
              </a:lnSpc>
            </a:pP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ZNF91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锌指蛋白 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91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核酸结合和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DNA 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结合转录因子活性</a:t>
            </a:r>
          </a:p>
          <a:p>
            <a:pPr>
              <a:lnSpc>
                <a:spcPts val="13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神经发育障碍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前庭神经元炎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594360" y="755968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1199515" y="316"/>
            <a:ext cx="5435600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kern="1200" cap="none" spc="6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kern="1200" cap="none" spc="6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</a:t>
            </a:r>
            <a:r>
              <a:rPr lang="en-US" altLang="zh-CN" sz="1000" spc="3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South University</a:t>
            </a:r>
            <a:endParaRPr kumimoji="0" lang="zh-CN" altLang="en-US" sz="1000" b="0" i="0" kern="1200" cap="none" spc="300" normalizeH="0" baseline="0" noProof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标题占位符 1"/>
          <p:cNvSpPr txBox="1"/>
          <p:nvPr/>
        </p:nvSpPr>
        <p:spPr>
          <a:xfrm>
            <a:off x="1199515" y="316"/>
            <a:ext cx="6240376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1.6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:</a:t>
            </a:r>
            <a:r>
              <a:rPr lang="zh-CN" altLang="en-US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type of </a:t>
            </a:r>
            <a:r>
              <a:rPr lang="en-US" altLang="zh-CN" sz="28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exonic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edsites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07207" y="1014054"/>
            <a:ext cx="6025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Cambria" panose="02040503050406030204" pitchFamily="18" charset="0"/>
              </a:rPr>
              <a:t>83 sites,</a:t>
            </a:r>
            <a:r>
              <a:rPr lang="zh-CN" altLang="en-US" sz="3600" dirty="0">
                <a:latin typeface="Cambria" panose="02040503050406030204" pitchFamily="18" charset="0"/>
              </a:rPr>
              <a:t> </a:t>
            </a:r>
            <a:r>
              <a:rPr lang="en-US" altLang="zh-CN" sz="3600" dirty="0">
                <a:latin typeface="Cambria" panose="02040503050406030204" pitchFamily="18" charset="0"/>
              </a:rPr>
              <a:t>44 </a:t>
            </a:r>
            <a:r>
              <a:rPr lang="en-US" altLang="zh-CN" sz="3600" dirty="0">
                <a:latin typeface="Cambria" panose="02040503050406030204" pitchFamily="18" charset="0"/>
                <a:ea typeface="Cambria" panose="02040503050406030204" pitchFamily="18" charset="0"/>
              </a:rPr>
              <a:t>genes</a:t>
            </a:r>
            <a:endParaRPr lang="zh-CN" altLang="en-US" sz="3600" dirty="0">
              <a:latin typeface="Cambria" panose="020405030504060302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37914" y="5561964"/>
            <a:ext cx="104149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Cambria" panose="02040503050406030204" pitchFamily="18" charset="0"/>
                <a:ea typeface="Cambria" panose="02040503050406030204" pitchFamily="18" charset="0"/>
              </a:rPr>
              <a:t>We found that most of </a:t>
            </a:r>
            <a:r>
              <a:rPr lang="en-US" altLang="zh-CN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edsites</a:t>
            </a:r>
            <a:r>
              <a:rPr lang="en-US" altLang="zh-CN" sz="2800" dirty="0">
                <a:latin typeface="Cambria" panose="02040503050406030204" pitchFamily="18" charset="0"/>
                <a:ea typeface="Cambria" panose="02040503050406030204" pitchFamily="18" charset="0"/>
              </a:rPr>
              <a:t> in exon region are </a:t>
            </a:r>
            <a:r>
              <a:rPr lang="en-US" altLang="zh-CN" sz="28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nonsynonymous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642" y="1846156"/>
            <a:ext cx="7060945" cy="3791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594360" y="755968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1199515" y="316"/>
            <a:ext cx="5435600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kern="1200" cap="none" spc="6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kern="1200" cap="none" spc="6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</a:t>
            </a:r>
            <a:r>
              <a:rPr lang="en-US" altLang="zh-CN" sz="1000" spc="3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South University</a:t>
            </a:r>
            <a:endParaRPr kumimoji="0" lang="zh-CN" altLang="en-US" sz="1000" b="0" i="0" kern="1200" cap="none" spc="300" normalizeH="0" baseline="0" noProof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标题占位符 1"/>
          <p:cNvSpPr txBox="1"/>
          <p:nvPr/>
        </p:nvSpPr>
        <p:spPr>
          <a:xfrm>
            <a:off x="1199515" y="316"/>
            <a:ext cx="6240376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1.6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:</a:t>
            </a:r>
            <a:r>
              <a:rPr lang="zh-CN" altLang="en-US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Genes in exon region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11806" y="755621"/>
            <a:ext cx="57184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Cambria" panose="02040503050406030204" pitchFamily="18" charset="0"/>
                <a:ea typeface="宋体" panose="02010600030101010101" pitchFamily="2" charset="-122"/>
              </a:rPr>
              <a:t>FKBP11</a:t>
            </a:r>
          </a:p>
          <a:p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FKBP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脯氨酰异构酶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11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催化​​含脯氨酰多肽的折叠。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成骨不全症，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V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型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卡菲病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脆骨症</a:t>
            </a:r>
          </a:p>
          <a:p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GRIA4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谷氨酸离子型受体 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AMPA 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型亚基 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4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谷氨酸门控受体活性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跨化学突触的传递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神经发育障碍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癫痫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精神分裂症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自闭症谱系障碍</a:t>
            </a:r>
          </a:p>
          <a:p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GRIK2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谷氨酸离子型受体海人酸亚基 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2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海人酸受体的突触前功能和跨化学突触的传递</a:t>
            </a:r>
          </a:p>
          <a:p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癫痫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智力发育障碍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强迫症</a:t>
            </a:r>
            <a:r>
              <a:rPr lang="en-US" altLang="zh-CN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srgbClr val="C0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亨廷顿病</a:t>
            </a:r>
          </a:p>
          <a:p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latin typeface="Cambria" panose="02040503050406030204" pitchFamily="18" charset="0"/>
                <a:ea typeface="宋体" panose="02010600030101010101" pitchFamily="2" charset="-122"/>
              </a:rPr>
              <a:t>HIF3A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缺氧诱导因子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3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亚基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Alpha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蛋白酶体介导的降解对活化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PAK-2p34 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的调节和细胞对刺激的反应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肾细胞癌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红细胞增多症 </a:t>
            </a:r>
          </a:p>
          <a:p>
            <a:endParaRPr lang="zh-CN" altLang="en-US" sz="1400" dirty="0">
              <a:latin typeface="Cambria" panose="02040503050406030204" pitchFamily="18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latin typeface="Cambria" panose="02040503050406030204" pitchFamily="18" charset="0"/>
                <a:ea typeface="宋体" panose="02010600030101010101" pitchFamily="2" charset="-122"/>
              </a:rPr>
              <a:t>KCNMA1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钾钙激活通道亚家族 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M Alpha 1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平滑肌收缩、神经递质释放和神经元兴奋性</a:t>
            </a:r>
          </a:p>
          <a:p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小脑萎缩</a:t>
            </a:r>
            <a:r>
              <a:rPr lang="en-US" altLang="zh-CN" sz="1400" dirty="0">
                <a:latin typeface="Cambria" panose="020405030504060302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Cambria" panose="02040503050406030204" pitchFamily="18" charset="0"/>
                <a:ea typeface="宋体" panose="02010600030101010101" pitchFamily="2" charset="-122"/>
              </a:rPr>
              <a:t>发育迟缓和癫痫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121" y="1073774"/>
          <a:ext cx="5564186" cy="4994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0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Gene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Type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Disease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ACYP2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ATP/ITP 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代谢</a:t>
                      </a:r>
                      <a:endParaRPr lang="en-US" altLang="zh-CN" sz="9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腺嘌呤磷酸核糖转移酶缺乏症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虱子感染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ARL6IP4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参与 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RNA 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剪接和 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mRNA 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加工</a:t>
                      </a:r>
                      <a:endParaRPr lang="en-US" altLang="zh-CN" sz="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CCNI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有丝分裂</a:t>
                      </a:r>
                      <a:endParaRPr lang="en-US" altLang="zh-CN" sz="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肾结核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泌尿生殖系统结核 </a:t>
                      </a:r>
                      <a:endParaRPr lang="en-US" altLang="zh-CN" sz="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CPSF6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3' RNA 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切割和多聚腺苷酸化加工</a:t>
                      </a:r>
                      <a:endParaRPr lang="en-US" altLang="zh-CN" sz="9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肉碱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酰基肉碱转位酶缺乏症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肺癌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CYFIP2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激活半胱氨酸型内肽酶活性；凋亡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发育性癫痫性脑病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 非特异性早发性癫痫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FKBP11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Stoploss, synonymous, nonsynonymous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催化​​含脯氨酰多肽的折叠。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成骨不全症，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 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卡菲病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脆骨症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GRIA4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谷氨酸门控受体活性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跨化学突触的传递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神经发育障碍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癫痫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精神分裂症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自闭症谱系障碍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GRIK2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Nonsynonymous, synonymous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海人酸受体的突触前功能和跨化学突触的传递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癫痫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智力发育障碍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强迫症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亨廷顿病</a:t>
                      </a:r>
                    </a:p>
                    <a:p>
                      <a:pPr algn="ctr"/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HIF3A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蛋白酶体介导的降解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肾细胞癌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红细胞增多症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2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KCNMA1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平滑肌收缩、神经递质释放和神经元兴奋性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小脑萎缩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发育迟缓和癫痫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2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MED21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Nonsynonymous, synonymous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RNA 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聚合酶 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II 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转录基因的转录调控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心包积血</a:t>
                      </a:r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伴有躯体型恶性肿瘤的畸胎瘤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900" b="1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90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ZNF91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核酸结合和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DNA 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结合转录因子活性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神经发育障碍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前庭神经元炎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5621307" y="798269"/>
          <a:ext cx="6469092" cy="559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6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Gene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Type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Disease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METTL6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Nonsynonymous, synonymous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参与 </a:t>
                      </a: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tRNA </a:t>
                      </a: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甲基化。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成人肝细胞癌 </a:t>
                      </a: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,Dubowitz </a:t>
                      </a: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综合征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NOVA1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105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调节神经元特异性的选择性剪接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失智</a:t>
                      </a:r>
                      <a:r>
                        <a:rPr lang="en-US" altLang="zh-CN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阿尔茨海默病</a:t>
                      </a:r>
                      <a:endParaRPr lang="en-US" altLang="zh-CN" sz="1050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PTPRZ1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免疫系统中的细胞因子信号传导和</a:t>
                      </a: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ALK </a:t>
                      </a: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信号传导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幽门螺杆菌感染</a:t>
                      </a: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高赖氨酸血症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PVRIG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作为抑制 </a:t>
                      </a: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 </a:t>
                      </a: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细胞受体介导信号的共抑制受体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SLC38A6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nonsynonymous, synonymous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氨基酸跨膜转运蛋白活性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胱氨酸尿症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Nonsynonymous, synonymous</a:t>
                      </a:r>
                      <a:endParaRPr lang="zh-CN" altLang="en-US" sz="105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核酸结合和</a:t>
                      </a:r>
                      <a:r>
                        <a:rPr lang="en-US" altLang="zh-CN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RNA </a:t>
                      </a:r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结合。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发育性癫痫性脑病</a:t>
                      </a:r>
                      <a:r>
                        <a:rPr lang="en-US" altLang="zh-CN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额颞叶痴呆和</a:t>
                      </a:r>
                      <a:r>
                        <a:rPr lang="en-US" altLang="zh-CN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或肌萎缩侧索硬化症</a:t>
                      </a:r>
                      <a:r>
                        <a:rPr lang="en-US" altLang="zh-CN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r>
                        <a:rPr lang="zh-CN" altLang="en-US" sz="105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乙型肝炎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SORBS1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Nonsynonymous, synonymous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蛋白激酶结合和细胞骨架蛋白结合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前列腺癌和</a:t>
                      </a: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 </a:t>
                      </a: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型糖尿病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SRP9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Nonsynonymous, synonymous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肽链延长和蛋白质代谢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运动神经炎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ZDHHC11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参与抗病毒先天免疫反应；宿主对病毒防御反应的积极调节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 </a:t>
                      </a: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细胞和 </a:t>
                      </a:r>
                      <a:r>
                        <a:rPr lang="en-US" altLang="zh-CN" sz="105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Nk</a:t>
                      </a: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细胞免疫缺陷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ZNF506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Nonsynonymous, synonymous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核酸结合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ZNF717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105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核酸结合和</a:t>
                      </a:r>
                      <a:r>
                        <a:rPr lang="en-US" altLang="zh-CN" sz="10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DNA </a:t>
                      </a: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结合转录因子活性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前列腺癌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594360" y="755968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1199515" y="316"/>
            <a:ext cx="5435600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kern="1200" cap="none" spc="6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kern="1200" cap="none" spc="6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</a:t>
            </a:r>
            <a:r>
              <a:rPr lang="en-US" altLang="zh-CN" sz="1000" spc="3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South University</a:t>
            </a:r>
            <a:endParaRPr kumimoji="0" lang="zh-CN" altLang="en-US" sz="1000" b="0" i="0" kern="1200" cap="none" spc="300" normalizeH="0" baseline="0" noProof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标题占位符 1"/>
          <p:cNvSpPr txBox="1"/>
          <p:nvPr/>
        </p:nvSpPr>
        <p:spPr>
          <a:xfrm>
            <a:off x="1199515" y="316"/>
            <a:ext cx="6240376" cy="756000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 1.6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:</a:t>
            </a:r>
            <a:r>
              <a:rPr lang="zh-CN" altLang="en-US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Genes in exon region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7385" y="1125330"/>
          <a:ext cx="5956225" cy="4367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0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Gene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Type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Disease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ACADVL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降低心肌脂肪酸</a:t>
                      </a:r>
                      <a:r>
                        <a:rPr lang="el-GR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β-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氧化</a:t>
                      </a:r>
                      <a:endParaRPr lang="en-US" altLang="zh-CN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极长链酰基辅酶 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 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脱氢酶缺乏症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ACTR3C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肌动蛋白丝结合活性</a:t>
                      </a:r>
                      <a:endParaRPr lang="en-US" altLang="zh-CN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</a:rPr>
                        <a:t>肺腺瘤和腺癌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ANKRD12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抑制核受体的转录活性</a:t>
                      </a:r>
                      <a:endParaRPr lang="en-US" altLang="zh-CN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线粒体复合物 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I 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缺乏症、核型 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CLNS1A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调节小核糖核蛋白的生物合成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CSNK2A1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细胞周期控制、细胞凋亡和昼夜节律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自闭症谱系障碍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非特异性综合征智力障碍 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DYNC1H1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分子马达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脊髓性肌萎缩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FAM171B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膜的组成部分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腹裂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耳腭指综合征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GON4L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参与 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DNA 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模板转录调控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自闭症谱系障碍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眼咽远端肌病 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MAGI1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支架蛋白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自闭症谱系障碍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2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MFN1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促进线粒体靶向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脑神经疾病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83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900" b="1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90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NEFH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维持神经元的直径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肌萎缩侧索硬化症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6168392" y="1327150"/>
          <a:ext cx="5628580" cy="3922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3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Gene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Type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Disease</a:t>
                      </a:r>
                      <a:endParaRPr lang="zh-CN" altLang="en-US" sz="9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7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PCLO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建立活跃的突触区和突触囊泡运输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</a:rPr>
                        <a:t>小脑桥脑发育不全 </a:t>
                      </a:r>
                      <a:r>
                        <a:rPr lang="en-US" altLang="zh-CN" sz="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</a:rPr>
                        <a:t>3 </a:t>
                      </a:r>
                      <a:r>
                        <a:rPr lang="zh-CN" altLang="en-US" sz="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</a:rPr>
                        <a:t>型</a:t>
                      </a:r>
                      <a:r>
                        <a:rPr lang="en-US" altLang="zh-CN" sz="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</a:rPr>
                        <a:t>,</a:t>
                      </a:r>
                      <a:r>
                        <a:rPr lang="zh-CN" altLang="en-US" sz="9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</a:rPr>
                        <a:t>肌动蛋白累积性肌病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7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PI4KA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催化磷脂酰肌醇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</a:rPr>
                        <a:t>伴有痉挛、髓鞘性白质营养不良和脑异常的神经发育障碍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POM121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介导进出细胞核的运输</a:t>
                      </a:r>
                      <a:endParaRPr lang="en-US" altLang="zh-CN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风湿热和急性泪囊炎</a:t>
                      </a:r>
                      <a:endParaRPr lang="en-US" altLang="zh-CN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0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RRBP1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ER 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增殖、分泌途径和分泌细胞分化</a:t>
                      </a:r>
                      <a:endParaRPr lang="en-US" altLang="zh-CN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上皮样炎性肌纤维母细胞肉瘤和弗林德斯岛斑疹热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7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SRGAP2B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</a:p>
                    <a:p>
                      <a:pPr algn="ctr"/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皮质神经元发育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15Q13.3 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染色体缺失综合征</a:t>
                      </a:r>
                      <a:r>
                        <a:rPr lang="en-US" altLang="zh-CN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altLang="en-US" sz="900" dirty="0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自闭症谱系障碍</a:t>
                      </a:r>
                      <a:endParaRPr lang="zh-CN" altLang="en-US" sz="900" dirty="0">
                        <a:solidFill>
                          <a:srgbClr val="C00000"/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7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TTC39C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Stopgain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</a:p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纤毛组装和耳石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免疫缺陷 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0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UBC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泛素化与蛋白质降解、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DNA 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修复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Machado-Joseph 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病和中东呼吸综合征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7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UIMC1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识别和修复 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DNA 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损伤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乳腺癌和范康尼贫血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URI1</a:t>
                      </a:r>
                      <a:endParaRPr lang="en-US" altLang="zh-CN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nonsynonymous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泛素化和转录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尾骨活动过度和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Klippel-Feil 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综合征 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" panose="020405030504060302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2642</Words>
  <Application>Microsoft Macintosh PowerPoint</Application>
  <PresentationFormat>宽屏</PresentationFormat>
  <Paragraphs>619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-apple-system</vt:lpstr>
      <vt:lpstr>等线</vt:lpstr>
      <vt:lpstr>等线 Light</vt:lpstr>
      <vt:lpstr>宋体</vt:lpstr>
      <vt:lpstr>微软雅黑</vt:lpstr>
      <vt:lpstr>PingFang SC</vt:lpstr>
      <vt:lpstr>Times</vt:lpstr>
      <vt:lpstr>Arial</vt:lpstr>
      <vt:lpstr>Cambria</vt:lpstr>
      <vt:lpstr>Helvetica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2025-10-02T07:23:51Z</dcterms:created>
  <dcterms:modified xsi:type="dcterms:W3CDTF">2025-10-02T07:26:47Z</dcterms:modified>
</cp:coreProperties>
</file>